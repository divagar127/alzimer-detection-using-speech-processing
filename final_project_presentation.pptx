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  <a:latin typeface="Arial"/>
              </a:defRPr>
            </a:pPr>
            <a:r>
              <a:t>Multimodal Speech Biomarker Fusion using Conversational Dynamics and Deep Acoustic Representations for Automated Alzheimer's Dementia Recognition</a:t>
            </a:r>
          </a:p>
          <a:p>
            <a:pPr algn="ctr">
              <a:defRPr sz="1300" b="1">
                <a:solidFill>
                  <a:srgbClr val="107C41"/>
                </a:solidFill>
                <a:latin typeface="Arial"/>
              </a:defRPr>
            </a:pPr>
            <a:r>
              <a:t>Final Project Technical Presentation | Course Code: 22AIE450 Speech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3108960" cy="155448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Arial"/>
              </a:defRPr>
            </a:pPr>
            <a:r>
              <a:t>Divagar S</a:t>
            </a:r>
          </a:p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Roll No: CB.SC.U4AIE23223</a:t>
            </a:r>
          </a:p>
          <a:p>
            <a:pPr>
              <a:defRPr sz="1100">
                <a:solidFill>
                  <a:srgbClr val="107C41"/>
                </a:solidFill>
                <a:latin typeface="Arial"/>
              </a:defRPr>
            </a:pPr>
            <a:r>
              <a:t>Focus: Gated Fusion, Multi-Task Loss &amp; XAI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291840"/>
            <a:ext cx="3108960" cy="155448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Arial"/>
              </a:defRPr>
            </a:pPr>
            <a:r>
              <a:t>Abhishek Pandey</a:t>
            </a:r>
          </a:p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Roll No: CB.SC.U4AIE23205</a:t>
            </a:r>
          </a:p>
          <a:p>
            <a:pPr>
              <a:defRPr sz="1100">
                <a:solidFill>
                  <a:srgbClr val="107C41"/>
                </a:solidFill>
                <a:latin typeface="Arial"/>
              </a:defRPr>
            </a:pPr>
            <a:r>
              <a:t>Focus: Audio Preprocessing, VAD &amp; Timing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91840"/>
            <a:ext cx="3108960" cy="155448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Arial"/>
              </a:defRPr>
            </a:pPr>
            <a:r>
              <a:t>Prem</a:t>
            </a:r>
          </a:p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Roll No: CB.SC.U4AIE23241</a:t>
            </a:r>
          </a:p>
          <a:p>
            <a:pPr>
              <a:defRPr sz="1100">
                <a:solidFill>
                  <a:srgbClr val="107C41"/>
                </a:solidFill>
                <a:latin typeface="Arial"/>
              </a:defRPr>
            </a:pPr>
            <a:r>
              <a:t>Focus: 123 Acoustic Biomarkers &amp; Error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  <a:latin typeface="Arial"/>
              </a:defRPr>
            </a:pPr>
            <a:r>
              <a:t>Department of Artificial Intelligence and Data Science | Amrita Vishwa Vidyapeetham, Coimbatore</a:t>
            </a:r>
            <a:br/>
            <a:r>
              <a:t>Batch: 2023–2027 | Date of Presentation: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71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01.  Introduction &amp; Motivation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Global dementia burden, diagnostic hurdles, and neurobiology of speech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02.  Problem Definition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Transcription bottlenecks, early fusion failure, and data leakage in existing literature.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03.  Literature Review &amp; Gaps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Systematic review of 5 key papers (IS2021, ICASSP, IEEE) and 4 critical technical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04.  Project Objectives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Audio-only screening, 15 timing biomarkers, Dynamic Gated Fusion, and XAI.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49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05.  Methodology &amp; Architecture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Signal preprocessing, 3 feature streams (123+512+15), Multi-Task Learning framework.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06.  Dataset Description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Interspeech 2021 ADReSSo benchmark (166 recordings: 87 AD, 79 CN), Cookie Theft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00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07.  Results &amp; Discussion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80.16% Acc, 0.8572 AUC, baseline comparisons, ablation matrix, and SHAP/LIME XAI.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0060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8920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08.  Conclusion &amp; Contributions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Summary of clinical breakthroughs, team division of work, and deployment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51663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Clinical Motivation &amp; Diagnostic Hurdles</a:t>
            </a:r>
          </a:p>
          <a:p>
            <a:r>
              <a:rPr b="1" sz="1150">
                <a:solidFill>
                  <a:srgbClr val="0F2043"/>
                </a:solidFill>
              </a:rPr>
              <a:t>• Epidemic Scale: </a:t>
            </a:r>
            <a:r>
              <a:rPr sz="1100">
                <a:solidFill>
                  <a:srgbClr val="282828"/>
                </a:solidFill>
              </a:rPr>
              <a:t>Alzheimer's Disease (AD) accounts for 60%–70% of dementia worldwide. WHO projects &gt;139 million cases by 2050.</a:t>
            </a:r>
          </a:p>
          <a:p>
            <a:r>
              <a:rPr b="1" sz="1150">
                <a:solidFill>
                  <a:srgbClr val="0F2043"/>
                </a:solidFill>
              </a:rPr>
              <a:t>• Invasive Clinical Pathways: </a:t>
            </a:r>
            <a:r>
              <a:rPr sz="1100">
                <a:solidFill>
                  <a:srgbClr val="282828"/>
                </a:solidFill>
              </a:rPr>
              <a:t>Gold-standard diagnosis relies on PET imaging ($3,000+), MRI, and lumbar puncture CSF assays for amyloid/tau.</a:t>
            </a:r>
          </a:p>
          <a:p>
            <a:r>
              <a:rPr b="1" sz="1150">
                <a:solidFill>
                  <a:srgbClr val="0F2043"/>
                </a:solidFill>
              </a:rPr>
              <a:t>• Logistical Bottlenecks: </a:t>
            </a:r>
            <a:r>
              <a:rPr sz="1100">
                <a:solidFill>
                  <a:srgbClr val="282828"/>
                </a:solidFill>
              </a:rPr>
              <a:t>Cost-prohibitive, geographically concentrated in specialized memory clinics, and often administered late after irreversible neuronal loss.</a:t>
            </a:r>
          </a:p>
          <a:p>
            <a:r>
              <a:rPr b="1" sz="1150">
                <a:solidFill>
                  <a:srgbClr val="0F2043"/>
                </a:solidFill>
              </a:rPr>
              <a:t>• Subjective Bias: </a:t>
            </a:r>
            <a:r>
              <a:rPr sz="1100">
                <a:solidFill>
                  <a:srgbClr val="282828"/>
                </a:solidFill>
              </a:rPr>
              <a:t>Cognitive assessments (MMSE, MoCA) suffer from examiner subjectivity and test-retest learning effects.</a:t>
            </a:r>
          </a:p>
          <a:p>
            <a:r>
              <a:rPr b="1" sz="1150">
                <a:solidFill>
                  <a:srgbClr val="0F2043"/>
                </a:solidFill>
              </a:rPr>
              <a:t>• Urgent Imperative: </a:t>
            </a:r>
            <a:r>
              <a:rPr sz="1100">
                <a:solidFill>
                  <a:srgbClr val="282828"/>
                </a:solidFill>
              </a:rPr>
              <a:t>Need for passive, scalable, non-invasive digital screening modalities deployable in primary care and telemedicine.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1663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7C41"/>
                </a:solidFill>
                <a:latin typeface="Arial"/>
              </a:defRPr>
            </a:pPr>
            <a:r>
              <a:t>Neurobiology of Speech Breakdown in AD</a:t>
            </a:r>
          </a:p>
          <a:p>
            <a:r>
              <a:rPr b="1" sz="1150">
                <a:solidFill>
                  <a:srgbClr val="0F2043"/>
                </a:solidFill>
              </a:rPr>
              <a:t>• High Cognitive Bandwidth: </a:t>
            </a:r>
            <a:r>
              <a:rPr sz="1100">
                <a:solidFill>
                  <a:srgbClr val="282828"/>
                </a:solidFill>
              </a:rPr>
              <a:t>Spontaneous speech requires synchronized semantic retrieval, working memory, and rapid motor articulation.</a:t>
            </a:r>
          </a:p>
          <a:p>
            <a:r>
              <a:rPr b="1" sz="1150">
                <a:solidFill>
                  <a:srgbClr val="0F2043"/>
                </a:solidFill>
              </a:rPr>
              <a:t>• Wernicke's &amp; Temporoparietal Degeneration: </a:t>
            </a:r>
            <a:r>
              <a:rPr sz="1100">
                <a:solidFill>
                  <a:srgbClr val="282828"/>
                </a:solidFill>
              </a:rPr>
              <a:t>Neurofibrillary tau impairs lexical access, triggering anomia, circumlocution, and extended unfilled hesitation pauses.</a:t>
            </a:r>
          </a:p>
          <a:p>
            <a:r>
              <a:rPr b="1" sz="1150">
                <a:solidFill>
                  <a:srgbClr val="0F2043"/>
                </a:solidFill>
              </a:rPr>
              <a:t>• Hippocampal &amp; Medial Temporal Atrophy: </a:t>
            </a:r>
            <a:r>
              <a:rPr sz="1100">
                <a:solidFill>
                  <a:srgbClr val="282828"/>
                </a:solidFill>
              </a:rPr>
              <a:t>Working memory lapses cause patients to lose their train of thought, drastically increasing overall silence ratio (R_sil).</a:t>
            </a:r>
          </a:p>
          <a:p>
            <a:r>
              <a:rPr b="1" sz="1150">
                <a:solidFill>
                  <a:srgbClr val="0F2043"/>
                </a:solidFill>
              </a:rPr>
              <a:t>• Frontal Motor Speech Degradation: </a:t>
            </a:r>
            <a:r>
              <a:rPr sz="1100">
                <a:solidFill>
                  <a:srgbClr val="282828"/>
                </a:solidFill>
              </a:rPr>
              <a:t>Loss of fine articulatory control results in pitch monotonicity (reduced F0 variability), vocal tremor, and reduced Harmonics-to-Noise Ratio (HNR).</a:t>
            </a:r>
          </a:p>
          <a:p>
            <a:r>
              <a:rPr b="1" sz="1150">
                <a:solidFill>
                  <a:srgbClr val="0F2043"/>
                </a:solidFill>
              </a:rPr>
              <a:t>• Diagnostic Window: </a:t>
            </a:r>
            <a:r>
              <a:rPr sz="1100">
                <a:solidFill>
                  <a:srgbClr val="282828"/>
                </a:solidFill>
              </a:rPr>
              <a:t>Acoustic and conversational timing anomalies manifest years before gross physical motor impairment.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10561320" cy="86868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95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7C41"/>
                </a:solidFill>
                <a:latin typeface="Arial"/>
              </a:defRPr>
            </a:pPr>
            <a:r>
              <a:t>Core Problem Statement:</a:t>
            </a:r>
          </a:p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How can we achieve highly accurate, fully automated Alzheimer's Dementia recognition directly from spontaneous raw speech without manual text transcripts, while avoiding dimensionality collapse and data leakage?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1663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rial"/>
              </a:defRPr>
            </a:pPr>
            <a:r>
              <a:t>Challenge 1: ASR Error Cascade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Existing high-performing models depend on manual text transcripts. Automated Speech Recognition (ASR) on elderly, dysarthric speech yields Word Error Rates (WER) of 30%–45%, which corrupt downstream NLP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51663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46888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Challenge 2: Overlooked Diarization Dynamics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Standard speech models treat conversations as single audio streams, blending the acoustic features of healthy clinicians with cognitively impaired patients and severely corrupting the diagnostic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51663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891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Challenge 3: Early Fusion Bottleneck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Naively concatenating 123 physical acoustic features with 512 deep embeddings creates a 650-dim space where high-variance spectral bins overpower gradients, completely suppressing 15 vital timing biomarkers.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1663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rial"/>
              </a:defRPr>
            </a:pPr>
            <a:r>
              <a:t>Challenge 4: Pervasive Data Leakage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Many published studies claim 95%–100% accuracy due to preprocessing, feature scaling, or selection across entire datasets prior to cross-validation splits, resulting in non-generalizable clinical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234440"/>
            <a:ext cx="107442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10561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1371600"/>
                <a:gridCol w="2194560"/>
                <a:gridCol w="2514600"/>
                <a:gridCol w="2286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Title &amp; 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Journal / Conf.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43"/>
                          </a:solidFill>
                          <a:latin typeface="Arial"/>
                        </a:defRPr>
                      </a:pPr>
                      <a:r>
                        <a:t>The ADReSSo Challenge</a:t>
                      </a:r>
                    </a:p>
                    <a:p>
                      <a:r>
                        <a:t>(Luz et al., 2021)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Proc. Interspeech</a:t>
                      </a:r>
                    </a:p>
                    <a:p>
                      <a:r>
                        <a:t>2021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eGeMAPS acoustic feature sets (88-dim) + SVM classifier.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Official acoustic baseline achieved 65.10% accuracy; Multimodal ASR+text reached 78.87%.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Acoustic-only models underperformed; Multimodal baseline required text transcripts.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43"/>
                          </a:solidFill>
                          <a:latin typeface="Arial"/>
                        </a:defRPr>
                      </a:pPr>
                      <a:r>
                        <a:t>Wav2Vec 2.0 Representations</a:t>
                      </a:r>
                    </a:p>
                    <a:p>
                      <a:r>
                        <a:t>(Papasavvas et al., 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Proc. IEEE ICASSP</a:t>
                      </a:r>
                    </a:p>
                    <a:p>
                      <a: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Pretrained self-supervised audio representations fine-tuned on raw waveforms.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Reached 78.20% accuracy directly from raw audio, surpassing handcrafted descriptors.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Computationally heavy, high parameter count; decisions lack explainability for clinicians.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43"/>
                          </a:solidFill>
                          <a:latin typeface="Arial"/>
                        </a:defRPr>
                      </a:pPr>
                      <a:r>
                        <a:t>Comparing Speech &amp; Language</a:t>
                      </a:r>
                    </a:p>
                    <a:p>
                      <a:r>
                        <a:t>(Balagopalan et al., 2020)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Proc. Interspeech</a:t>
                      </a:r>
                    </a:p>
                    <a:p>
                      <a:r>
                        <a:t>2020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Comparative study of acoustic features vs pretrained BERT linguistic embeddings.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Text embeddings derived from manual transcripts achieved strong diagnostic accuracy.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Dependent entirely on manual text transcripts; highly vulnerable to ASR transcription errors.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43"/>
                          </a:solidFill>
                          <a:latin typeface="Arial"/>
                        </a:defRPr>
                      </a:pPr>
                      <a:r>
                        <a:t>Paralinguistic Acoustic Features</a:t>
                      </a:r>
                    </a:p>
                    <a:p>
                      <a:r>
                        <a:t>(Haider et al.,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IEEE JSTSP</a:t>
                      </a:r>
                    </a:p>
                    <a:p>
                      <a:r>
                        <a:t>Vol. 14,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Extensive empirical assessment of eGeMAPS, ComParE, and MRC psycholinguistic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Proved pause-to-speech ratio and pitch dynamics are most discriminative biomarkers.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Processed audio as continuous streams without clinician-patient speaker diarization.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43"/>
                          </a:solidFill>
                          <a:latin typeface="Arial"/>
                        </a:defRPr>
                      </a:pPr>
                      <a:r>
                        <a:t>Automated Dialogue Analysis</a:t>
                      </a:r>
                    </a:p>
                    <a:p>
                      <a:r>
                        <a:t>(Mirheidari et al., 2019)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Computer Speech</a:t>
                      </a:r>
                    </a:p>
                    <a:p>
                      <a:r>
                        <a:t>&amp; Language, 2019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Turn-taking latencies and conversational interaction analysis in memory clinics.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Interaction parameters differentiated dementia patients comparable to expert clinicians.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Small cohort size; evaluated only conversational timing without deep continuous spectral fusion.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42828"/>
                </a:solidFill>
              </a:rPr>
              <a:t>[GAP 1]  </a:t>
            </a:r>
            <a:r>
              <a:rPr b="1" sz="1200">
                <a:solidFill>
                  <a:srgbClr val="0F2043"/>
                </a:solidFill>
              </a:rPr>
              <a:t>Cascading ASR Transcription Vulnerability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Existing top-performing pipelines depend on manual transcripts or high-resource NLP models. Applying off-the-shelf ASR to cognitively impaired elderly speech yields high Word Error Rates (30%–45%), propagating catastrophic errors into classification.</a:t>
            </a:r>
          </a:p>
          <a:p>
            <a:pPr>
              <a:defRPr sz="1050" b="1">
                <a:solidFill>
                  <a:srgbClr val="107C41"/>
                </a:solidFill>
                <a:latin typeface="Arial"/>
              </a:defRPr>
            </a:pPr>
            <a:r>
              <a:t>✔ Our Solution: Complete audio-only processing eliminating text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1732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42828"/>
                </a:solidFill>
              </a:rPr>
              <a:t>[GAP 2]  </a:t>
            </a:r>
            <a:r>
              <a:rPr b="1" sz="1200">
                <a:solidFill>
                  <a:srgbClr val="0F2043"/>
                </a:solidFill>
              </a:rPr>
              <a:t>Neglect of Conversational Turn Diarization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Most acoustic frameworks analyze entire recordings as uniform streams, blindly combining clinician prompts with patient speech. This averages out subtle cognitive pauses and distorts hesitation markers.</a:t>
            </a:r>
          </a:p>
          <a:p>
            <a:pPr>
              <a:defRPr sz="1050" b="1">
                <a:solidFill>
                  <a:srgbClr val="107C41"/>
                </a:solidFill>
                <a:latin typeface="Arial"/>
              </a:defRPr>
            </a:pPr>
            <a:r>
              <a:t>✔ Our Solution: Diarization-based extraction isolating 15 participant hesitation biomarkers.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40479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42828"/>
                </a:solidFill>
              </a:rPr>
              <a:t>[GAP 3]  </a:t>
            </a:r>
            <a:r>
              <a:rPr b="1" sz="1200">
                <a:solidFill>
                  <a:srgbClr val="0F2043"/>
                </a:solidFill>
              </a:rPr>
              <a:t>Early Fusion Dimensionality &amp; Scale Collapse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Directly concatenating low-dimensional acoustics (123) with high-dimensional deep embeddings (512+) produces severe gradient dominance by high-variance spectral bins, drowning out vital timing features.</a:t>
            </a:r>
          </a:p>
          <a:p>
            <a:pPr>
              <a:defRPr sz="1050" b="1">
                <a:solidFill>
                  <a:srgbClr val="107C41"/>
                </a:solidFill>
                <a:latin typeface="Arial"/>
              </a:defRPr>
            </a:pPr>
            <a:r>
              <a:t>✔ Our Solution: Dynamic Multimodal Gated Fusion weighting calibrated posterior probabilities.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840479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B42828"/>
                </a:solidFill>
              </a:rPr>
              <a:t>[GAP 4]  </a:t>
            </a:r>
            <a:r>
              <a:rPr b="1" sz="1200">
                <a:solidFill>
                  <a:srgbClr val="0F2043"/>
                </a:solidFill>
              </a:rPr>
              <a:t>Prevalent Data Leakage in Academic Benchmarks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Several published works claim artificially high accuracies (&gt;95%) by fitting normalizers, selecting features, or performing SMOTE augmentation across the entire dataset before establishing validation splits.</a:t>
            </a:r>
          </a:p>
          <a:p>
            <a:pPr>
              <a:defRPr sz="1050" b="1">
                <a:solidFill>
                  <a:srgbClr val="107C41"/>
                </a:solidFill>
                <a:latin typeface="Arial"/>
              </a:defRPr>
            </a:pPr>
            <a:r>
              <a:t>✔ Our Solution: Strict in-fold standardizers fit strictly on training partitions across 5 folds.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10561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99032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Objective 1: Non-Invasive, Audio-Only Diagnostic Pipeline</a:t>
            </a:r>
          </a:p>
          <a:p>
            <a:r>
              <a:rPr sz="1100">
                <a:solidFill>
                  <a:srgbClr val="282828"/>
                </a:solidFill>
              </a:rPr>
              <a:t>Develop an end-to-end framework capable of recognizing Alzheimer's Dementia directly from spontaneous continuous speech without requiring manual or automated text transcripts.  </a:t>
            </a:r>
            <a:r>
              <a:rPr sz="1050" b="1">
                <a:solidFill>
                  <a:srgbClr val="107C41"/>
                </a:solidFill>
              </a:rPr>
              <a:t>[Eliminates ASR transcription errors and cultural linguistic dependencies.]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59152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Objective 2: Extraction of 15 Conversational Timing Biomarkers</a:t>
            </a:r>
          </a:p>
          <a:p>
            <a:r>
              <a:rPr sz="1100">
                <a:solidFill>
                  <a:srgbClr val="282828"/>
                </a:solidFill>
              </a:rPr>
              <a:t>Leverage speaker diarization boundaries to quantify cognitive processing latencies, specifically extracting silence ratio (R_sil), hesitation pause latency, and speech-to-silence ratio (gamma_ps).  </a:t>
            </a:r>
            <a:r>
              <a:rPr sz="1050" b="1">
                <a:solidFill>
                  <a:srgbClr val="107C41"/>
                </a:solidFill>
              </a:rPr>
              <a:t>[Directly mirrors neurobiological temporoparietal and hippocampal atrophy.]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0561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19272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Objective 3: Design of Dynamic Multimodal Gated Fusion</a:t>
            </a:r>
          </a:p>
          <a:p>
            <a:r>
              <a:rPr sz="1100">
                <a:solidFill>
                  <a:srgbClr val="282828"/>
                </a:solidFill>
              </a:rPr>
              <a:t>Formulate an adaptive probability gating mechanism (w_ac=0.10, w_dp=0.30, w_tm=0.60) with strict in-fold standardization to overcome the 650-dimensional early fusion bottleneck.  </a:t>
            </a:r>
            <a:r>
              <a:rPr sz="1050" b="1">
                <a:solidFill>
                  <a:srgbClr val="107C41"/>
                </a:solidFill>
              </a:rPr>
              <a:t>[Guarantees mathematically rigorous zero-leakage 5-fold cross-validation.]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0561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Objective 4: Dual-Task Continuous Cognitive Profiling</a:t>
            </a:r>
          </a:p>
          <a:p>
            <a:r>
              <a:rPr sz="1100">
                <a:solidFill>
                  <a:srgbClr val="282828"/>
                </a:solidFill>
              </a:rPr>
              <a:t>Construct a Multi-Task Deep Neural Network (MultiTaskDNN) that simultaneously solves binary AD classification and regresses continuous Mini-Mental State Examination (MMSE) scores.  </a:t>
            </a:r>
            <a:r>
              <a:rPr sz="1050" b="1">
                <a:solidFill>
                  <a:srgbClr val="107C41"/>
                </a:solidFill>
              </a:rPr>
              <a:t>[Joint objective function: L_total = L_BCE + 0.5 * L_MSE.]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66360"/>
            <a:ext cx="10561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39512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Objective 5: Clinical Explainability via SHAP and LIME</a:t>
            </a:r>
          </a:p>
          <a:p>
            <a:r>
              <a:rPr sz="1100">
                <a:solidFill>
                  <a:srgbClr val="282828"/>
                </a:solidFill>
              </a:rPr>
              <a:t>Deconstruct model predictions using game-theoretic SHAP beeswarm feature importance and LIME patient-level local surrogate breakdowns to satisfy clinical transparency standards.  </a:t>
            </a:r>
            <a:r>
              <a:rPr sz="1050" b="1">
                <a:solidFill>
                  <a:srgbClr val="107C41"/>
                </a:solidFill>
              </a:rPr>
              <a:t>[Provides clinicians with interpretable biomarker diagnostic justifications.]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46634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Tri-Stream Feature Processing</a:t>
            </a:r>
          </a:p>
          <a:p>
            <a:r>
              <a:rPr b="1" sz="1100">
                <a:solidFill>
                  <a:srgbClr val="0F2043"/>
                </a:solidFill>
              </a:rPr>
              <a:t>• Signal Preprocessing: </a:t>
            </a:r>
            <a:r>
              <a:rPr sz="1050">
                <a:solidFill>
                  <a:srgbClr val="282828"/>
                </a:solidFill>
              </a:rPr>
              <a:t>Resampling to 16 kHz, spectral gating stationary noise reduction, energy VAD (-25 dB threshold).</a:t>
            </a:r>
          </a:p>
          <a:p>
            <a:r>
              <a:rPr b="1" sz="1100">
                <a:solidFill>
                  <a:srgbClr val="0F2043"/>
                </a:solidFill>
              </a:rPr>
              <a:t>• Stream 1: Physical Acoustics (123-dim): </a:t>
            </a:r>
            <a:r>
              <a:rPr sz="1050">
                <a:solidFill>
                  <a:srgbClr val="282828"/>
                </a:solidFill>
              </a:rPr>
              <a:t>120 static + dynamic MFCCs (40+40+40), pitch F0 (mean, std) via pYIN with HMM Viterbi decoding, Harmonics-to-Noise Ratio (HNR).</a:t>
            </a:r>
          </a:p>
          <a:p>
            <a:r>
              <a:rPr b="1" sz="1100">
                <a:solidFill>
                  <a:srgbClr val="0F2043"/>
                </a:solidFill>
              </a:rPr>
              <a:t>• Stream 2: Deep Spectral Embeddings (512-dim): </a:t>
            </a:r>
            <a:r>
              <a:rPr sz="1050">
                <a:solidFill>
                  <a:srgbClr val="282828"/>
                </a:solidFill>
              </a:rPr>
              <a:t>128-band log-Mel filterbank envelope with frame-wise temporal mean and variance pooling.</a:t>
            </a:r>
          </a:p>
          <a:p>
            <a:r>
              <a:rPr b="1" sz="1100">
                <a:solidFill>
                  <a:srgbClr val="0F2043"/>
                </a:solidFill>
              </a:rPr>
              <a:t>• Stream 3: Conversational Timing (15-dim): </a:t>
            </a:r>
            <a:r>
              <a:rPr sz="1050">
                <a:solidFill>
                  <a:srgbClr val="282828"/>
                </a:solidFill>
              </a:rPr>
              <a:t>15 diarization metrics: silence ratio R_sil, hesitation pause latency, phonation ratios R_par/R_inv, speech-to-silence ratio.</a:t>
            </a:r>
          </a:p>
          <a:p>
            <a:r>
              <a:rPr b="1" sz="1100">
                <a:solidFill>
                  <a:srgbClr val="0F2043"/>
                </a:solidFill>
              </a:rPr>
              <a:t>• Dynamic Gated Fusion Formulation: </a:t>
            </a:r>
            <a:r>
              <a:rPr sz="1050">
                <a:solidFill>
                  <a:srgbClr val="282828"/>
                </a:solidFill>
              </a:rPr>
              <a:t>P_fused = 0.10*P_ac + 0.30*P_dp + 0.60*P_tm. Standardizers S^(k) fit exclusively on training folds.</a:t>
            </a:r>
          </a:p>
          <a:p>
            <a:r>
              <a:rPr b="1" sz="1100">
                <a:solidFill>
                  <a:srgbClr val="0F2043"/>
                </a:solidFill>
              </a:rPr>
              <a:t>• Multi-Task Head: </a:t>
            </a:r>
            <a:r>
              <a:rPr sz="1050">
                <a:solidFill>
                  <a:srgbClr val="282828"/>
                </a:solidFill>
              </a:rPr>
              <a:t>Shared latent representation (256-&gt;128-&gt;64) branching into AD Classification (BCE) and MMSE Score Regression (MSE).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325880"/>
            <a:ext cx="5715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hodology 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63040"/>
            <a:ext cx="5532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105613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95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Interspeech 2021 ADReSSo Challenge Corpus</a:t>
            </a:r>
          </a:p>
          <a:p>
            <a:pPr>
              <a:defRPr sz="1150">
                <a:solidFill>
                  <a:srgbClr val="282828"/>
                </a:solidFill>
                <a:latin typeface="Arial"/>
              </a:defRPr>
            </a:pPr>
            <a:r>
              <a:t>• Standardized benchmark dataset derived from the Boston Cookie Theft picture description task (Boston Diagnostic Aphasia Exam).</a:t>
            </a:r>
            <a:br/>
            <a:r>
              <a:t>• Evaluates spontaneous, unstructured speech under concurrent visual scanning, narrative planning, and lexical retrieval demands.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Diagnostic Corpus (N = 166)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• 87 Alzheimer's Dementia (AD)</a:t>
            </a:r>
            <a:br/>
            <a:r>
              <a:t>• 79 Cognitively Normal (CN)</a:t>
            </a:r>
            <a:br/>
            <a:r>
              <a:t>• Strictly balanced by age and gender to eliminate demographic bias.</a:t>
            </a:r>
            <a:br/>
            <a:r>
              <a:t>• Serves as primary benchmark for 5-fold cross-validation.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6060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74320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C41"/>
                </a:solidFill>
                <a:latin typeface="Arial"/>
              </a:defRPr>
            </a:pPr>
            <a:r>
              <a:t>Cognitive Progression (N = 73)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• 15 Cognitive Decline cases</a:t>
            </a:r>
            <a:br/>
            <a:r>
              <a:t>• 58 Stable subjects</a:t>
            </a:r>
            <a:br/>
            <a:r>
              <a:t>• Longitudinal spontaneous speech tracking disease worsening over time.</a:t>
            </a:r>
            <a:br/>
            <a:r>
              <a:t>• Evaluates progressive deterioration sensitivity.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6060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2743200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Audio Specifications &amp; Diarization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• 44.1 kHz standardized WAV audio.</a:t>
            </a:r>
            <a:br/>
            <a:r>
              <a:t>• Volume-normalized and cleaned.</a:t>
            </a:r>
            <a:br/>
            <a:r>
              <a:t>• Accompanied by turn-taking timestamps demarcating Participant (PAR) vs Investigator (INV).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2542032" cy="105156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71600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Arial"/>
              </a:defRPr>
            </a:pPr>
            <a:r>
              <a:t>80.16%</a:t>
            </a:r>
          </a:p>
          <a:p>
            <a:pPr algn="ctr">
              <a:defRPr sz="1000">
                <a:solidFill>
                  <a:srgbClr val="282828"/>
                </a:solidFill>
                <a:latin typeface="Arial"/>
              </a:defRPr>
            </a:pPr>
            <a:r>
              <a:t>Accuracy (+15.06% vs Baseline)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325880"/>
            <a:ext cx="2542032" cy="105156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Arial"/>
              </a:defRPr>
            </a:pPr>
            <a:r>
              <a:t>0.8572</a:t>
            </a:r>
          </a:p>
          <a:p>
            <a:pPr algn="ctr">
              <a:defRPr sz="1000">
                <a:solidFill>
                  <a:srgbClr val="282828"/>
                </a:solidFill>
                <a:latin typeface="Arial"/>
              </a:defRPr>
            </a:pPr>
            <a:r>
              <a:t>ROC-AUC (High Discrimination)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325880"/>
            <a:ext cx="2542032" cy="105156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371600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Arial"/>
              </a:defRPr>
            </a:pPr>
            <a:r>
              <a:t>0.8059</a:t>
            </a:r>
          </a:p>
          <a:p>
            <a:pPr algn="ctr">
              <a:defRPr sz="1000">
                <a:solidFill>
                  <a:srgbClr val="282828"/>
                </a:solidFill>
                <a:latin typeface="Arial"/>
              </a:defRPr>
            </a:pPr>
            <a:r>
              <a:t>F1-Score (Balanced Class F1)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3104" y="1325880"/>
            <a:ext cx="2542032" cy="1051560"/>
          </a:xfrm>
          <a:prstGeom prst="roundRect">
            <a:avLst/>
          </a:prstGeom>
          <a:solidFill>
            <a:srgbClr val="F6F9FC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06256" y="1371600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Arial"/>
              </a:defRPr>
            </a:pPr>
            <a:r>
              <a:t>0.840 / 0.792</a:t>
            </a:r>
          </a:p>
          <a:p>
            <a:pPr algn="ctr">
              <a:defRPr sz="1000">
                <a:solidFill>
                  <a:srgbClr val="282828"/>
                </a:solidFill>
                <a:latin typeface="Arial"/>
              </a:defRPr>
            </a:pPr>
            <a:r>
              <a:t>Precision / Recall (79.2% AD Sensitivity)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5669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Benchmark Comparison Against Published Baselines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60120" y="301752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914400"/>
                <a:gridCol w="82296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/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Acoustic Baseline (IS2021)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eGeMAPS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65.10%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Wav2Vec 2.0 (Papasavvas)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Audio Repr.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78.20%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Official Multimodal (IS2021)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Audio + ASR Text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78.87%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0.779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Proposed Gated Fusion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Audio + Timing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80.16%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675120" y="2514600"/>
            <a:ext cx="470916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c_au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06040"/>
            <a:ext cx="452628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Modality Ablation Study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1828800"/>
          <a:ext cx="4892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005840"/>
                <a:gridCol w="100584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Feature Representation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Acoustics Only (123-dim)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64.46%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0.6686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Deep Embeddings (512-dim)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71.11%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0.7226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Conversational Timing (15-dim)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72.35%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0.7307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latin typeface="Arial"/>
                        </a:defRPr>
                      </a:pPr>
                      <a:r>
                        <a:t>Early Concatenation (650-dim)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73.53%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0.7373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Proposed Dynamic Gated Fusion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80.16%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0.8059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397763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B42828"/>
                </a:solidFill>
                <a:latin typeface="Arial"/>
              </a:defRPr>
            </a:pPr>
            <a:r>
              <a:t>Clinical Error Breakdown (15 FP / 18 FN):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False Positives (N=15): Driven by visual scanning latencies (2.5s–4.0s picture inspection) and denture vocal noise lowering HNR.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False Negatives (N=18): Driven by brief 15s descriptions focusing only on obvious center details with preserved motor speech tempo.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Explainable AI (SHAP Beeswarm) &amp; Confusion Matrix</a:t>
            </a:r>
          </a:p>
        </p:txBody>
      </p:sp>
      <p:pic>
        <p:nvPicPr>
          <p:cNvPr id="9" name="Picture 8" descr="cm_proposed_multimodal_gated_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2331720" cy="2148840"/>
          </a:xfrm>
          <a:prstGeom prst="rect">
            <a:avLst/>
          </a:prstGeom>
        </p:spPr>
      </p:pic>
      <p:pic>
        <p:nvPicPr>
          <p:cNvPr id="10" name="Picture 9" descr="shap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783080"/>
            <a:ext cx="242316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7C41"/>
                </a:solidFill>
                <a:latin typeface="Arial"/>
              </a:defRPr>
            </a:pPr>
            <a:r>
              <a:t>Key Clinical Interpretability Findings: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1. Silence Ratio (R_sil): Highest global importance (+0.30 to +0.55 SHAP attribution favoring AD).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2. Pause Latency (tau_pause): Lexical hesitation latency consistently drives dementia predictions.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3. Pitch Flattening (sigma_F0): Monotonous prosody correlates strongly with advanced cognitive decline.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105613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955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1. State-of-the-Art Audio-Only Performance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The proposed Dynamic Multimodal Gated Fusion achieved 80.16% accuracy, 0.8059 F1-score, and 0.8572 ROC-AUC under rigorous zero-leakage 5-fold cross-validation across all 166 diagnostic sessions.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105613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101955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C41"/>
                </a:solidFill>
                <a:latin typeface="Arial"/>
              </a:defRPr>
            </a:pPr>
            <a:r>
              <a:t>2. Outperformed Official Text-Dependent Baselines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Surpassed the official IS2021 acoustic baseline (65.10% by +15.06%), fine-tuned Wav2Vec 2.0 (78.20% by +1.96%), and the multimodal benchmark (78.87% by +1.29%) completely without manual text transcripts.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105613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101955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3. Resolved the Early Concatenation Bottleneck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Dynamic probability gating successfully balanced acoustic, deep spectral, and timing dynamics, validating that conversational hesitation patterns carry greater diagnostic weight than raw acoustic descriptors.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05613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955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C41"/>
                </a:solidFill>
                <a:latin typeface="Arial"/>
              </a:defRPr>
            </a:pPr>
            <a:r>
              <a:t>4. Clinical Interpretability &amp; Telemedicine Feasibility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SHAP and LIME confirmed that silence ratios and pause latencies drive decisions. The system enables passive, 1-to-2 minute non-invasive screening scalable for primary healthcare and remote smartphone telehealth.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Individual Team Contributions</a:t>
            </a:r>
          </a:p>
          <a:p>
            <a:r>
              <a:rPr b="1" sz="1100">
                <a:solidFill>
                  <a:srgbClr val="0F2043"/>
                </a:solidFill>
              </a:rPr>
              <a:t>• Divagar S (CB.SC.U4AIE23223): </a:t>
            </a:r>
            <a:r>
              <a:rPr sz="1050">
                <a:solidFill>
                  <a:srgbClr val="282828"/>
                </a:solidFill>
              </a:rPr>
              <a:t>Overall architecture, Dynamic Gated Fusion formulation, Multi-Task loss, SHAP/LIME clinical interpretability, LaTeX report &amp; Git lead.</a:t>
            </a:r>
          </a:p>
          <a:p>
            <a:r>
              <a:rPr b="1" sz="1100">
                <a:solidFill>
                  <a:srgbClr val="0F2043"/>
                </a:solidFill>
              </a:rPr>
              <a:t>• Abhishek Pandey (CB.SC.U4AIE23205): </a:t>
            </a:r>
            <a:r>
              <a:rPr sz="1050">
                <a:solidFill>
                  <a:srgbClr val="282828"/>
                </a:solidFill>
              </a:rPr>
              <a:t>Signal preprocessing (spectral gating &amp; VAD), 512-dim continuous log-Mel filterbank extraction, 15 conversational timing metrics from diarization.</a:t>
            </a:r>
          </a:p>
          <a:p>
            <a:r>
              <a:rPr b="1" sz="1100">
                <a:solidFill>
                  <a:srgbClr val="0F2043"/>
                </a:solidFill>
              </a:rPr>
              <a:t>• Prem (CB.SC.U4AIE23241): </a:t>
            </a:r>
            <a:r>
              <a:rPr sz="1050">
                <a:solidFill>
                  <a:srgbClr val="282828"/>
                </a:solidFill>
              </a:rPr>
              <a:t>123 physical acoustic biomarkers (dynamic MFCCs, pYIN F0, HNR), baseline machine learning benchmarks, modality ablation study, and cohort error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1732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C41"/>
                </a:solidFill>
                <a:latin typeface="Arial"/>
              </a:defRPr>
            </a:pPr>
            <a:r>
              <a:t>Deployment Roadmap &amp; Future Directions</a:t>
            </a:r>
          </a:p>
          <a:p>
            <a:r>
              <a:rPr b="1" sz="1100">
                <a:solidFill>
                  <a:srgbClr val="0F2043"/>
                </a:solidFill>
              </a:rPr>
              <a:t>✔ Foundation Speech Models: </a:t>
            </a:r>
            <a:r>
              <a:rPr sz="1050">
                <a:solidFill>
                  <a:srgbClr val="282828"/>
                </a:solidFill>
              </a:rPr>
              <a:t>Integrate self-supervised HuBERT and WavLM representations paired with adaptive noise-cancellation front-ends.</a:t>
            </a:r>
          </a:p>
          <a:p>
            <a:r>
              <a:rPr b="1" sz="1100">
                <a:solidFill>
                  <a:srgbClr val="0F2043"/>
                </a:solidFill>
              </a:rPr>
              <a:t>✔ Cross-Lingual Generalization: </a:t>
            </a:r>
            <a:r>
              <a:rPr sz="1050">
                <a:solidFill>
                  <a:srgbClr val="282828"/>
                </a:solidFill>
              </a:rPr>
              <a:t>Validate timing and pause metrics on multilingual corpora (Spanish, Mandarin, Tamil) to establish cross-lingual baselines.</a:t>
            </a:r>
          </a:p>
          <a:p>
            <a:r>
              <a:rPr b="1" sz="1100">
                <a:solidFill>
                  <a:srgbClr val="0F2043"/>
                </a:solidFill>
              </a:rPr>
              <a:t>✔ Multi-Center Longitudinal Cohorts: </a:t>
            </a:r>
            <a:r>
              <a:rPr sz="1050">
                <a:solidFill>
                  <a:srgbClr val="282828"/>
                </a:solidFill>
              </a:rPr>
              <a:t>Expand evaluations to full DementiaBank Pitt database to assess long-term progression trajectories.</a:t>
            </a:r>
          </a:p>
          <a:p>
            <a:r>
              <a:rPr b="1" sz="1100">
                <a:solidFill>
                  <a:srgbClr val="0F2043"/>
                </a:solidFill>
              </a:rPr>
              <a:t>✔ Lightweight Telehealth Edge App: </a:t>
            </a:r>
            <a:r>
              <a:rPr sz="1050">
                <a:solidFill>
                  <a:srgbClr val="282828"/>
                </a:solidFill>
              </a:rPr>
              <a:t>Export quantized ONNX model for real-time passive voice screening on consumer smartphones without cloud transmission.</a:t>
            </a:r>
          </a:p>
          <a:p>
            <a:r>
              <a:rPr b="1" sz="1100">
                <a:solidFill>
                  <a:srgbClr val="0F2043"/>
                </a:solidFill>
              </a:rPr>
              <a:t>✔ Clinical Decision Support: </a:t>
            </a:r>
            <a:r>
              <a:rPr sz="1050">
                <a:solidFill>
                  <a:srgbClr val="282828"/>
                </a:solidFill>
              </a:rPr>
              <a:t>Package LIME/SHAP patient explanation summaries into intuitive dashboard reports for memory clinic physicians.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25880"/>
            <a:ext cx="105613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95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Arial"/>
              </a:defRPr>
            </a:pPr>
            <a:r>
              <a:t>Key Verified Academic Literature (with Working DOIs)</a:t>
            </a:r>
          </a:p>
          <a:p>
            <a:r>
              <a:rPr b="1" sz="1100">
                <a:solidFill>
                  <a:srgbClr val="003366"/>
                </a:solidFill>
              </a:rPr>
              <a:t>[1] S. Luz et al., </a:t>
            </a:r>
            <a:r>
              <a:rPr b="1" sz="1100">
                <a:solidFill>
                  <a:srgbClr val="0F2043"/>
                </a:solidFill>
              </a:rPr>
              <a:t>"Alzheimer's Dementia Recognition through Spontaneous Speech: The ADReSSo Challenge, " </a:t>
            </a:r>
            <a:r>
              <a:rPr sz="1050">
                <a:solidFill>
                  <a:srgbClr val="282828"/>
                </a:solidFill>
              </a:rPr>
              <a:t>in Proc. Interspeech 2021, pp. 3780–3784. DOI: 10.21437/Interspeech.2021-1220</a:t>
            </a:r>
          </a:p>
          <a:p>
            <a:r>
              <a:rPr b="1" sz="1100">
                <a:solidFill>
                  <a:srgbClr val="003366"/>
                </a:solidFill>
              </a:rPr>
              <a:t>[2] A. Papasavvas et al., </a:t>
            </a:r>
            <a:r>
              <a:rPr b="1" sz="1100">
                <a:solidFill>
                  <a:srgbClr val="0F2043"/>
                </a:solidFill>
              </a:rPr>
              <a:t>"Detecting Alzheimer's Disease from Spontaneous Speech Using Wav2Vec 2.0 Representations, " </a:t>
            </a:r>
            <a:r>
              <a:rPr sz="1050">
                <a:solidFill>
                  <a:srgbClr val="282828"/>
                </a:solidFill>
              </a:rPr>
              <a:t>in Proc. IEEE ICASSP 2021, pp. 9414–9418. DOI: 10.1109/ICASSP40776.2021.9414545</a:t>
            </a:r>
          </a:p>
          <a:p>
            <a:r>
              <a:rPr b="1" sz="1100">
                <a:solidFill>
                  <a:srgbClr val="003366"/>
                </a:solidFill>
              </a:rPr>
              <a:t>[3] A. Balagopalan et al., </a:t>
            </a:r>
            <a:r>
              <a:rPr b="1" sz="1100">
                <a:solidFill>
                  <a:srgbClr val="0F2043"/>
                </a:solidFill>
              </a:rPr>
              <a:t>"To BERT or Not to BERT: Comparing Speech and Language-Based Approaches for Alzheimer's Disease Detection, " </a:t>
            </a:r>
            <a:r>
              <a:rPr sz="1050">
                <a:solidFill>
                  <a:srgbClr val="282828"/>
                </a:solidFill>
              </a:rPr>
              <a:t>in Proc. Interspeech 2020, pp. 2167–2171. DOI: 10.21437/Interspeech.2020-2557</a:t>
            </a:r>
          </a:p>
          <a:p>
            <a:r>
              <a:rPr b="1" sz="1100">
                <a:solidFill>
                  <a:srgbClr val="003366"/>
                </a:solidFill>
              </a:rPr>
              <a:t>[4] F. Haider et al., </a:t>
            </a:r>
            <a:r>
              <a:rPr b="1" sz="1100">
                <a:solidFill>
                  <a:srgbClr val="0F2043"/>
                </a:solidFill>
              </a:rPr>
              <a:t>"An Assessment of Paralinguistic Acoustic Features for Detection of Alzheimer's Dementia in Spontaneous Speech, " </a:t>
            </a:r>
            <a:r>
              <a:rPr sz="1050">
                <a:solidFill>
                  <a:srgbClr val="282828"/>
                </a:solidFill>
              </a:rPr>
              <a:t>IEEE JSTSP, vol. 14, no. 2, pp. 272–281, 2020. DOI: 10.1109/JSTSP.2019.2955022</a:t>
            </a:r>
          </a:p>
          <a:p>
            <a:r>
              <a:rPr b="1" sz="1100">
                <a:solidFill>
                  <a:srgbClr val="003366"/>
                </a:solidFill>
              </a:rPr>
              <a:t>[5] S. M. Lundberg and S.-I. Lee, </a:t>
            </a:r>
            <a:r>
              <a:rPr b="1" sz="1100">
                <a:solidFill>
                  <a:srgbClr val="0F2043"/>
                </a:solidFill>
              </a:rPr>
              <a:t>"A Unified Approach to Interpreting Model Predictions (SHAP), " </a:t>
            </a:r>
            <a:r>
              <a:rPr sz="1050">
                <a:solidFill>
                  <a:srgbClr val="282828"/>
                </a:solidFill>
              </a:rPr>
              <a:t>in Advances in Neural Information Processing Systems (NeurIPS), vol. 30, pp. 4765–4774, 2017. DOI: 10.48550/arXiv.1705.07874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45920" y="1280160"/>
            <a:ext cx="8899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107C41"/>
                </a:solidFill>
                <a:latin typeface="Arial"/>
              </a:defRPr>
            </a:pPr>
            <a:r>
              <a:t>Questions &amp; Discussion</a:t>
            </a:r>
          </a:p>
          <a:p>
            <a:br/>
            <a:pPr algn="ctr">
              <a:defRPr sz="1300">
                <a:solidFill>
                  <a:srgbClr val="0F2043"/>
                </a:solidFill>
                <a:latin typeface="Arial"/>
              </a:defRPr>
            </a:pPr>
            <a:r>
              <a:t>Multimodal Speech Biomarker Fusion for Automated Alzheimer's Dementia Recognition</a:t>
            </a:r>
            <a:br/>
            <a:r>
              <a:t>Department of Artificial Intelligence and Data Science | Amrita Vishwa Vidyapeetham</a:t>
            </a:r>
          </a:p>
          <a:p>
            <a:br/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Team: Divagar S  |  Abhishek Pandey  |  Prem</a:t>
            </a:r>
          </a:p>
          <a:p>
            <a:pPr algn="ctr">
              <a:defRPr sz="1200">
                <a:solidFill>
                  <a:srgbClr val="003366"/>
                </a:solidFill>
                <a:latin typeface="Arial"/>
              </a:defRPr>
            </a:pPr>
            <a:r>
              <a:t>GitHub Repository: https://github.com/divagar127/Alzimer-detection-using-speech-processing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